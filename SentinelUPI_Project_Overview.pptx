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FFA"/>
            </a:gs>
            <a:gs pos="55000">
              <a:srgbClr val="EDF9F1"/>
            </a:gs>
            <a:gs pos="100000">
              <a:srgbClr val="DDF1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11167567" y="0"/>
            <a:ext cx="1024128" cy="1024128"/>
          </a:xfrm>
          <a:prstGeom prst="rtTriangle">
            <a:avLst/>
          </a:prstGeom>
          <a:solidFill>
            <a:srgbClr val="F4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58952"/>
            <a:ext cx="6949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5A987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98448"/>
            <a:ext cx="74066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200" b="1">
                <a:solidFill>
                  <a:srgbClr val="17352A"/>
                </a:solidFill>
                <a:latin typeface="Aptos"/>
              </a:rPr>
              <a:t>SentinelUPI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423160"/>
            <a:ext cx="68580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0">
                <a:solidFill>
                  <a:srgbClr val="526D60"/>
                </a:solidFill>
                <a:latin typeface="Aptos"/>
              </a:rPr>
              <a:t>Adaptive UPI fraud detection with explainable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3429000"/>
            <a:ext cx="1005840" cy="73152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767328"/>
            <a:ext cx="7223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5A987"/>
                </a:solidFill>
                <a:latin typeface="Aptos"/>
              </a:rPr>
              <a:t>EXPLAINABLE  •  ADAPTIVE  •  BEHAVIOR-AWARE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868680"/>
            <a:ext cx="2487168" cy="224028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81160" y="1024128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526D60"/>
                </a:solidFill>
                <a:latin typeface="Aptos"/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712" y="1536192"/>
            <a:ext cx="21945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900" b="1">
                <a:solidFill>
                  <a:srgbClr val="17352A"/>
                </a:solidFill>
                <a:latin typeface="Aptos"/>
              </a:rPr>
              <a:t>Callidus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423160"/>
            <a:ext cx="2057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26D60"/>
                </a:solidFill>
                <a:latin typeface="Aptos"/>
              </a:rPr>
              <a:t>Fintech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7315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D60"/>
                </a:solidFill>
                <a:latin typeface="Aptos"/>
              </a:rPr>
              <a:t>A clearer, more adaptive approach to transaction security.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FFA"/>
            </a:gs>
            <a:gs pos="55000">
              <a:srgbClr val="EDF9F1"/>
            </a:gs>
            <a:gs pos="100000">
              <a:srgbClr val="DDF1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11167567" y="0"/>
            <a:ext cx="1024128" cy="1024128"/>
          </a:xfrm>
          <a:prstGeom prst="rtTriangle">
            <a:avLst/>
          </a:prstGeom>
          <a:solidFill>
            <a:srgbClr val="F4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5A987"/>
                </a:solidFill>
                <a:latin typeface="Aptos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52A"/>
                </a:solidFill>
                <a:latin typeface="Aptos"/>
              </a:rPr>
              <a:t>The problem: blind alerts erode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44168"/>
            <a:ext cx="502920" cy="50292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26D60"/>
                </a:solidFill>
                <a:latin typeface="Aptos"/>
              </a:rPr>
              <a:t>SentinelUPI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D60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106984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7352A"/>
                </a:solidFill>
                <a:latin typeface="Aptos"/>
              </a:rPr>
              <a:t>A risk score alone does not tell a customer what happened—or what to do next.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60320"/>
            <a:ext cx="3429000" cy="246888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560320"/>
            <a:ext cx="64008" cy="2468880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74320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Opaque blocks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82112"/>
            <a:ext cx="2990088" cy="1709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Generic declines give no useful reason and make legitimate users feel punished.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560320"/>
            <a:ext cx="3429000" cy="246888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2560320"/>
            <a:ext cx="64008" cy="2468880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74320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False alarms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182112"/>
            <a:ext cx="2990088" cy="1709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Travel, a new phone, or festive spending can look unusual against a static profile.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560320"/>
            <a:ext cx="3429000" cy="246888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2560320"/>
            <a:ext cx="64008" cy="2468880"/>
          </a:xfrm>
          <a:prstGeom prst="rect">
            <a:avLst/>
          </a:prstGeom>
          <a:solidFill>
            <a:srgbClr val="39826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74320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Changing behavior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3182112"/>
            <a:ext cx="2990088" cy="1709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A useful system needs to learn a user's evolving routine while still spotting hostile activity.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413248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5A987"/>
                </a:solidFill>
                <a:latin typeface="Aptos"/>
              </a:rPr>
              <a:t>Project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349240"/>
            <a:ext cx="95097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7352A"/>
                </a:solidFill>
                <a:latin typeface="Aptos"/>
              </a:rPr>
              <a:t>Surface the signals behind each decision and adapt when an anomaly is confirmed legitimate.</a:t>
            </a:r>
          </a:p>
        </p:txBody>
      </p:sp>
    </p:spTree>
  </p:cSld>
  <p:transition spd="med">
    <p:zoom dir="in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FFA"/>
            </a:gs>
            <a:gs pos="55000">
              <a:srgbClr val="EDF9F1"/>
            </a:gs>
            <a:gs pos="100000">
              <a:srgbClr val="DDF1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11167567" y="0"/>
            <a:ext cx="1024128" cy="1024128"/>
          </a:xfrm>
          <a:prstGeom prst="rtTriangle">
            <a:avLst/>
          </a:prstGeom>
          <a:solidFill>
            <a:srgbClr val="F4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5A987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52A"/>
                </a:solidFill>
                <a:latin typeface="Aptos"/>
              </a:rPr>
              <a:t>What SentinelUPI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44168"/>
            <a:ext cx="502920" cy="50292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26D60"/>
                </a:solidFill>
                <a:latin typeface="Aptos"/>
              </a:rPr>
              <a:t>SentinelUPI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D60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106984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7352A"/>
                </a:solidFill>
                <a:latin typeface="Aptos"/>
              </a:rPr>
              <a:t>An explainable UPI transaction verification prototype that combines user context with transaction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14600"/>
            <a:ext cx="3429000" cy="251460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514600"/>
            <a:ext cx="64008" cy="2514600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Build a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36392"/>
            <a:ext cx="2990088" cy="1755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Track typical spend and trusted devices / cities for a user.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514600"/>
            <a:ext cx="3429000" cy="251460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2514600"/>
            <a:ext cx="64008" cy="2514600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69748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Evaluate a transaction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136392"/>
            <a:ext cx="2990088" cy="1755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Score amount, time, device, location, travel speed, and transaction burst.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514600"/>
            <a:ext cx="3429000" cy="251460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2514600"/>
            <a:ext cx="64008" cy="2514600"/>
          </a:xfrm>
          <a:prstGeom prst="rect">
            <a:avLst/>
          </a:prstGeom>
          <a:solidFill>
            <a:srgbClr val="39826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69748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Explain &amp; respond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3136392"/>
            <a:ext cx="2990088" cy="1755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Show risk tier, plain-language contributing factors, and a recommended action.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486400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65A987"/>
                </a:solidFill>
                <a:latin typeface="Aptos"/>
              </a:rPr>
              <a:t>Designed to distinguish a benign lifestyle change from a likely account takeover.</a:t>
            </a:r>
          </a:p>
        </p:txBody>
      </p:sp>
    </p:spTree>
  </p:cSld>
  <p:transition spd="med">
    <p:zoom dir="in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FFA"/>
            </a:gs>
            <a:gs pos="55000">
              <a:srgbClr val="EDF9F1"/>
            </a:gs>
            <a:gs pos="100000">
              <a:srgbClr val="DDF1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11167567" y="0"/>
            <a:ext cx="1024128" cy="1024128"/>
          </a:xfrm>
          <a:prstGeom prst="rtTriangle">
            <a:avLst/>
          </a:prstGeom>
          <a:solidFill>
            <a:srgbClr val="F4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5A987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52A"/>
                </a:solidFill>
                <a:latin typeface="Aptos"/>
              </a:rPr>
              <a:t>System architecture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44168"/>
            <a:ext cx="502920" cy="50292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26D60"/>
                </a:solidFill>
                <a:latin typeface="Aptos"/>
              </a:rPr>
              <a:t>SentinelUPI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D60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64208"/>
            <a:ext cx="2240280" cy="603504"/>
          </a:xfrm>
          <a:prstGeom prst="roundRect">
            <a:avLst>
              <a:gd name="adj" fmla="val 12000"/>
            </a:avLst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19659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01  Transaction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773936"/>
            <a:ext cx="80010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17352A"/>
                </a:solidFill>
                <a:latin typeface="Aptos"/>
              </a:rPr>
              <a:t>Amount • category • time • device • city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10512" y="2286000"/>
            <a:ext cx="73152" cy="201168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2496312"/>
            <a:ext cx="2240280" cy="603504"/>
          </a:xfrm>
          <a:prstGeom prst="roundRect">
            <a:avLst>
              <a:gd name="adj" fmla="val 12000"/>
            </a:avLst>
          </a:prstGeom>
          <a:solidFill>
            <a:srgbClr val="17352A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633472"/>
            <a:ext cx="19659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02  User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606040"/>
            <a:ext cx="80010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17352A"/>
                </a:solidFill>
                <a:latin typeface="Aptos"/>
              </a:rPr>
              <a:t>EWMA spend baseline • trusted devices • trusted cities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10512" y="3118104"/>
            <a:ext cx="73152" cy="201168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3328416"/>
            <a:ext cx="2240280" cy="603504"/>
          </a:xfrm>
          <a:prstGeom prst="roundRect">
            <a:avLst>
              <a:gd name="adj" fmla="val 12000"/>
            </a:avLst>
          </a:prstGeom>
          <a:solidFill>
            <a:srgbClr val="17352A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465576"/>
            <a:ext cx="19659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03  Feature &amp; risk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438144"/>
            <a:ext cx="80010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17352A"/>
                </a:solidFill>
                <a:latin typeface="Aptos"/>
              </a:rPr>
              <a:t>Deviation • nocturnal activity • geo velocity • transaction burst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10512" y="3950208"/>
            <a:ext cx="73152" cy="201168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8" y="4160520"/>
            <a:ext cx="2240280" cy="603504"/>
          </a:xfrm>
          <a:prstGeom prst="roundRect">
            <a:avLst>
              <a:gd name="adj" fmla="val 12000"/>
            </a:avLst>
          </a:prstGeom>
          <a:solidFill>
            <a:srgbClr val="17352A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297680"/>
            <a:ext cx="19659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04  Explanation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270248"/>
            <a:ext cx="80010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17352A"/>
                </a:solidFill>
                <a:latin typeface="Aptos"/>
              </a:rPr>
              <a:t>Risk tier • diagnosis • attributed factors • next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10512" y="4782312"/>
            <a:ext cx="73152" cy="201168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4992624"/>
            <a:ext cx="2240280" cy="603504"/>
          </a:xfrm>
          <a:prstGeom prst="roundRect">
            <a:avLst>
              <a:gd name="adj" fmla="val 12000"/>
            </a:avLst>
          </a:prstGeom>
          <a:solidFill>
            <a:srgbClr val="17352A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129784"/>
            <a:ext cx="19659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05  User 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5102352"/>
            <a:ext cx="80010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17352A"/>
                </a:solidFill>
                <a:latin typeface="Aptos"/>
              </a:rPr>
              <a:t>Python dashboard / Android app • simulator • profile • passbook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971032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26D60"/>
                </a:solidFill>
                <a:latin typeface="Aptos"/>
              </a:rPr>
              <a:t>Two implementations: Python reference engine + Streamlit dashboard; native Kotlin engine + Android app.</a:t>
            </a:r>
          </a:p>
        </p:txBody>
      </p:sp>
    </p:spTree>
  </p:cSld>
  <p:transition spd="med">
    <p:zoom dir="in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FFA"/>
            </a:gs>
            <a:gs pos="55000">
              <a:srgbClr val="EDF9F1"/>
            </a:gs>
            <a:gs pos="100000">
              <a:srgbClr val="DDF1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11167567" y="0"/>
            <a:ext cx="1024128" cy="1024128"/>
          </a:xfrm>
          <a:prstGeom prst="rtTriangle">
            <a:avLst/>
          </a:prstGeom>
          <a:solidFill>
            <a:srgbClr val="F4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5A987"/>
                </a:solidFill>
                <a:latin typeface="Aptos"/>
              </a:rPr>
              <a:t>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52A"/>
                </a:solidFill>
                <a:latin typeface="Aptos"/>
              </a:rPr>
              <a:t>Behavioral signals build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44168"/>
            <a:ext cx="502920" cy="50292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26D60"/>
                </a:solidFill>
                <a:latin typeface="Aptos"/>
              </a:rPr>
              <a:t>SentinelUPI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D60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3736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737360"/>
            <a:ext cx="64008" cy="1828800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2024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Spend deviation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59152"/>
            <a:ext cx="2990088" cy="1069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EWMA mean and spread; amount z-score and spend multiple.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73736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737360"/>
            <a:ext cx="64008" cy="1828800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92024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Device &amp; 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59152"/>
            <a:ext cx="2990088" cy="1069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Known device / city status; unfamiliar combinations raise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73736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737360"/>
            <a:ext cx="64008" cy="1828800"/>
          </a:xfrm>
          <a:prstGeom prst="rect">
            <a:avLst/>
          </a:prstGeom>
          <a:solidFill>
            <a:srgbClr val="39826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2024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Time &amp; velocity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59152"/>
            <a:ext cx="2990088" cy="1069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Overnight activity, distance since last transaction, travel speed, and burst count.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977639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65A987"/>
                </a:solidFill>
                <a:latin typeface="Aptos"/>
              </a:rPr>
              <a:t>Baseline adaptation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" y="4535424"/>
            <a:ext cx="91440" cy="91440"/>
          </a:xfrm>
          <a:prstGeom prst="roundRect">
            <a:avLst>
              <a:gd name="adj" fmla="val 12000"/>
            </a:avLst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5" y="4443984"/>
            <a:ext cx="10378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Python profile uses EWMA statistics and trusted entity registries.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" y="5010912"/>
            <a:ext cx="91440" cy="91440"/>
          </a:xfrm>
          <a:prstGeom prst="roundRect">
            <a:avLst>
              <a:gd name="adj" fmla="val 12000"/>
            </a:avLst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5" y="4919472"/>
            <a:ext cx="10378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Documented learning rates: α = 0.10 routine drift; α = 0.35 after confirmed legitimate anomaly.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" y="5486400"/>
            <a:ext cx="91440" cy="91440"/>
          </a:xfrm>
          <a:prstGeom prst="roundRect">
            <a:avLst>
              <a:gd name="adj" fmla="val 12000"/>
            </a:avLst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5" y="5394960"/>
            <a:ext cx="10378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Android profile stores spend mean / variance and updates from user feedback.</a:t>
            </a:r>
          </a:p>
        </p:txBody>
      </p:sp>
    </p:spTree>
  </p:cSld>
  <p:transition spd="med">
    <p:zoom dir="in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FFA"/>
            </a:gs>
            <a:gs pos="55000">
              <a:srgbClr val="EDF9F1"/>
            </a:gs>
            <a:gs pos="100000">
              <a:srgbClr val="DDF1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11167567" y="0"/>
            <a:ext cx="1024128" cy="1024128"/>
          </a:xfrm>
          <a:prstGeom prst="rtTriangle">
            <a:avLst/>
          </a:prstGeom>
          <a:solidFill>
            <a:srgbClr val="F4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5A987"/>
                </a:solidFill>
                <a:latin typeface="Aptos"/>
              </a:rPr>
              <a:t>DECISIONING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52A"/>
                </a:solidFill>
                <a:latin typeface="Aptos"/>
              </a:rPr>
              <a:t>A risk tier leads to a proportionate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44168"/>
            <a:ext cx="502920" cy="50292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26D60"/>
                </a:solidFill>
                <a:latin typeface="Aptos"/>
              </a:rPr>
              <a:t>SentinelUPI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D60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19072"/>
            <a:ext cx="1965960" cy="694944"/>
          </a:xfrm>
          <a:prstGeom prst="roundRect">
            <a:avLst>
              <a:gd name="adj" fmla="val 12000"/>
            </a:avLst>
          </a:prstGeom>
          <a:solidFill>
            <a:srgbClr val="39826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1"/>
            <a:ext cx="16459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865376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7352A"/>
                </a:solidFill>
                <a:latin typeface="Aptos"/>
              </a:rPr>
              <a:t>0–24.9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865376"/>
            <a:ext cx="6217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26D60"/>
                </a:solidFill>
                <a:latin typeface="Aptos"/>
              </a:rPr>
              <a:t>Allow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688336"/>
            <a:ext cx="1965960" cy="694944"/>
          </a:xfrm>
          <a:prstGeom prst="roundRect">
            <a:avLst>
              <a:gd name="adj" fmla="val 12000"/>
            </a:avLst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825496"/>
            <a:ext cx="16459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834640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7352A"/>
                </a:solidFill>
                <a:latin typeface="Aptos"/>
              </a:rPr>
              <a:t>25–54.9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834640"/>
            <a:ext cx="6217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26D60"/>
                </a:solidFill>
                <a:latin typeface="Aptos"/>
              </a:rPr>
              <a:t>Allow with notification / learn when benign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657600"/>
            <a:ext cx="1965960" cy="694944"/>
          </a:xfrm>
          <a:prstGeom prst="roundRect">
            <a:avLst>
              <a:gd name="adj" fmla="val 12000"/>
            </a:avLst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794760"/>
            <a:ext cx="16459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803904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7352A"/>
                </a:solidFill>
                <a:latin typeface="Aptos"/>
              </a:rPr>
              <a:t>55–74.9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803904"/>
            <a:ext cx="6217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26D60"/>
                </a:solidFill>
                <a:latin typeface="Aptos"/>
              </a:rPr>
              <a:t>Step-up OTP verification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626864"/>
            <a:ext cx="1965960" cy="694944"/>
          </a:xfrm>
          <a:prstGeom prst="roundRect">
            <a:avLst>
              <a:gd name="adj" fmla="val 12000"/>
            </a:avLst>
          </a:prstGeom>
          <a:solidFill>
            <a:srgbClr val="527F6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764024"/>
            <a:ext cx="16459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773168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7352A"/>
                </a:solidFill>
                <a:latin typeface="Aptos"/>
              </a:rPr>
              <a:t>75–100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4773168"/>
            <a:ext cx="6217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26D60"/>
                </a:solidFill>
                <a:latin typeface="Aptos"/>
              </a:rPr>
              <a:t>Biometric challenge or block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815584"/>
            <a:ext cx="10607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26D60"/>
                </a:solidFill>
                <a:latin typeface="Aptos"/>
              </a:rPr>
              <a:t>Tier thresholds and response labels are defined in project code / architecture notes; thresholds are prototype logic.</a:t>
            </a:r>
          </a:p>
        </p:txBody>
      </p:sp>
    </p:spTree>
  </p:cSld>
  <p:transition spd="med">
    <p:zoom dir="in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FFA"/>
            </a:gs>
            <a:gs pos="55000">
              <a:srgbClr val="EDF9F1"/>
            </a:gs>
            <a:gs pos="100000">
              <a:srgbClr val="DDF1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11167567" y="0"/>
            <a:ext cx="1024128" cy="1024128"/>
          </a:xfrm>
          <a:prstGeom prst="rtTriangle">
            <a:avLst/>
          </a:prstGeom>
          <a:solidFill>
            <a:srgbClr val="F4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5A987"/>
                </a:solidFill>
                <a:latin typeface="Aptos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52A"/>
                </a:solidFill>
                <a:latin typeface="Aptos"/>
              </a:rPr>
              <a:t>Explainability turns flags into useful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44168"/>
            <a:ext cx="502920" cy="50292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26D60"/>
                </a:solidFill>
                <a:latin typeface="Aptos"/>
              </a:rPr>
              <a:t>SentinelUPI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D60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45920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7352A"/>
                </a:solidFill>
                <a:latin typeface="Aptos"/>
              </a:rPr>
              <a:t>Instead of returning only a number, SentinelUPI can describe why a transaction looks different.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450592"/>
            <a:ext cx="4983480" cy="242316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450592"/>
            <a:ext cx="64008" cy="2423160"/>
          </a:xfrm>
          <a:prstGeom prst="rect">
            <a:avLst/>
          </a:prstGeom>
          <a:solidFill>
            <a:srgbClr val="39826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633472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Example: benign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072384"/>
            <a:ext cx="4544568" cy="1664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26D60"/>
                </a:solidFill>
                <a:latin typeface="Aptos"/>
              </a:rPr>
              <a:t>New device, familiar city, daytime transaction → may be a device upgrade. Notify and learn rather than repeatedly alarming.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2450592"/>
            <a:ext cx="4983480" cy="242316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19088" y="2450592"/>
            <a:ext cx="64008" cy="2423160"/>
          </a:xfrm>
          <a:prstGeom prst="rect">
            <a:avLst/>
          </a:prstGeom>
          <a:solidFill>
            <a:srgbClr val="527F6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2633472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Example: hostile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3072384"/>
            <a:ext cx="4544568" cy="1664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26D60"/>
                </a:solidFill>
                <a:latin typeface="Aptos"/>
              </a:rPr>
              <a:t>Novel device + overnight timing + rapid location jump / P2P → strong takeover signals; step-up or block.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58384"/>
            <a:ext cx="105156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65A987"/>
                </a:solidFill>
                <a:latin typeface="Aptos"/>
              </a:rPr>
              <a:t>Outputs include a diagnosis, recommended action, narrative summary, factor list, and attribution breakdown.</a:t>
            </a:r>
          </a:p>
        </p:txBody>
      </p:sp>
    </p:spTree>
  </p:cSld>
  <p:transition spd="med">
    <p:zoom dir="in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FFA"/>
            </a:gs>
            <a:gs pos="55000">
              <a:srgbClr val="EDF9F1"/>
            </a:gs>
            <a:gs pos="100000">
              <a:srgbClr val="DDF1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11167567" y="0"/>
            <a:ext cx="1024128" cy="1024128"/>
          </a:xfrm>
          <a:prstGeom prst="rtTriangle">
            <a:avLst/>
          </a:prstGeom>
          <a:solidFill>
            <a:srgbClr val="F4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5A987"/>
                </a:solidFill>
                <a:latin typeface="Aptos"/>
              </a:rPr>
              <a:t>IMPLEMENTATION •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52A"/>
                </a:solidFill>
                <a:latin typeface="Aptos"/>
              </a:rPr>
              <a:t>Python engine &amp; interactive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44168"/>
            <a:ext cx="502920" cy="50292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26D60"/>
                </a:solidFill>
                <a:latin typeface="Aptos"/>
              </a:rPr>
              <a:t>SentinelUPI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D60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19072"/>
            <a:ext cx="4983480" cy="342900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719072"/>
            <a:ext cx="64008" cy="3429000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901952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Core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340864"/>
            <a:ext cx="4544568" cy="2670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engine.py
• ProfileManager + EWMA user profiles
• FeatureExtractor: spend, device, geo, time, velocity
• FraudModel: Random Forest workflow
• ExplainabilityEngine: factor narratives
• Synthetic transaction generator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1719072"/>
            <a:ext cx="4983480" cy="342900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9088" y="1719072"/>
            <a:ext cx="64008" cy="3429000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1901952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Streamlit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2340864"/>
            <a:ext cx="4544568" cy="2670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app.py
• Live transaction simulator + presets
• Real-time stream / wrong-guess view
• Adaptive baseline &amp; drift view
• Model studio and dataset specification
Supporting scripts: dataset generation, condition inspection, stream tester.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522976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0">
                <a:solidFill>
                  <a:srgbClr val="526D60"/>
                </a:solidFill>
                <a:latin typeface="Aptos"/>
              </a:rPr>
              <a:t>Python dependencies include pandas, NumPy, scikit-learn, Streamlit, Plotly, and joblib.</a:t>
            </a:r>
          </a:p>
        </p:txBody>
      </p:sp>
    </p:spTree>
  </p:cSld>
  <p:transition spd="med">
    <p:zoom dir="in"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FFA"/>
            </a:gs>
            <a:gs pos="55000">
              <a:srgbClr val="EDF9F1"/>
            </a:gs>
            <a:gs pos="100000">
              <a:srgbClr val="DDF1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11167567" y="0"/>
            <a:ext cx="1024128" cy="1024128"/>
          </a:xfrm>
          <a:prstGeom prst="rtTriangle">
            <a:avLst/>
          </a:prstGeom>
          <a:solidFill>
            <a:srgbClr val="F4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5A987"/>
                </a:solidFill>
                <a:latin typeface="Aptos"/>
              </a:rPr>
              <a:t>IMPLEMENTATION • ANDROID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52A"/>
                </a:solidFill>
                <a:latin typeface="Aptos"/>
              </a:rPr>
              <a:t>Android app &amp; local network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44168"/>
            <a:ext cx="502920" cy="50292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26D60"/>
                </a:solidFill>
                <a:latin typeface="Aptos"/>
              </a:rPr>
              <a:t>SentinelUPI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D60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19072"/>
            <a:ext cx="4983480" cy="342900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719072"/>
            <a:ext cx="64008" cy="3429000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901952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Native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340864"/>
            <a:ext cx="4544568" cy="2670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Kotlin • Jetpack Compose • Material 3
Screens: Home / transfers, Threat Lab, Passbook, Profile.
Threat Lab edits transaction inputs and presents risk attribution. Balance is customizable in the demo.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1719072"/>
            <a:ext cx="4983480" cy="342900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9088" y="1719072"/>
            <a:ext cx="64008" cy="3429000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1901952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LAN peer-to-peer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2340864"/>
            <a:ext cx="4544568" cy="2670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LanP2PManager uses JSON over TCP on port 8989.
DISCOVER probes a peer; PAYMENT sends a demo payload. A receiving device records a credit.
The Android FraudClassifier is a calibrated rule-based score path.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522976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0">
                <a:solidFill>
                  <a:srgbClr val="526D60"/>
                </a:solidFill>
                <a:latin typeface="Aptos"/>
              </a:rPr>
              <a:t>Android minimum SDK 26 • target SDK 34 (per architecture notes).</a:t>
            </a:r>
          </a:p>
        </p:txBody>
      </p:sp>
    </p:spTree>
  </p:cSld>
  <p:transition spd="med">
    <p:zoom dir="in"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FFA"/>
            </a:gs>
            <a:gs pos="55000">
              <a:srgbClr val="EDF9F1"/>
            </a:gs>
            <a:gs pos="100000">
              <a:srgbClr val="DDF1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11167567" y="0"/>
            <a:ext cx="1024128" cy="1024128"/>
          </a:xfrm>
          <a:prstGeom prst="rtTriangle">
            <a:avLst/>
          </a:prstGeom>
          <a:solidFill>
            <a:srgbClr val="F4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5A987"/>
                </a:solidFill>
                <a:latin typeface="Aptos"/>
              </a:rPr>
              <a:t>PROJECT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52A"/>
                </a:solidFill>
                <a:latin typeface="Aptos"/>
              </a:rPr>
              <a:t>Data, simulation &amp; project artifacts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44168"/>
            <a:ext cx="502920" cy="50292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26D60"/>
                </a:solidFill>
                <a:latin typeface="Aptos"/>
              </a:rPr>
              <a:t>SentinelUPI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D60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37360"/>
            <a:ext cx="3429000" cy="324612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737360"/>
            <a:ext cx="64008" cy="3246120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92024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Synthetic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359152"/>
            <a:ext cx="2990088" cy="2487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Dataset generator and sample CSV support repeatable scenarios without real banking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737360"/>
            <a:ext cx="3429000" cy="324612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737360"/>
            <a:ext cx="64008" cy="3246120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92024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Scenario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59152"/>
            <a:ext cx="2990088" cy="2487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Routine purchases, festive spikes, travel, device changes, overnight takeover patterns, and transaction bursts.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737360"/>
            <a:ext cx="3429000" cy="324612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737360"/>
            <a:ext cx="64008" cy="3246120"/>
          </a:xfrm>
          <a:prstGeom prst="rect">
            <a:avLst/>
          </a:prstGeom>
          <a:solidFill>
            <a:srgbClr val="39826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2024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Repository pieces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59152"/>
            <a:ext cx="2990088" cy="2487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26D60"/>
                </a:solidFill>
                <a:latin typeface="Aptos"/>
              </a:rPr>
              <a:t>Python dashboard / engine, Android app, architecture guide, diagnostic scripts, tests, and data folder.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49824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526D60"/>
                </a:solidFill>
                <a:latin typeface="Aptos"/>
              </a:rPr>
              <a:t>The repository includes tests and diagnostic tools; this presentation describes functionality rather than claiming measured production performance.</a:t>
            </a:r>
          </a:p>
        </p:txBody>
      </p:sp>
    </p:spTree>
  </p:cSld>
  <p:transition spd="med">
    <p:zoom dir="in"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FFA"/>
            </a:gs>
            <a:gs pos="55000">
              <a:srgbClr val="EDF9F1"/>
            </a:gs>
            <a:gs pos="100000">
              <a:srgbClr val="DDF1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11167567" y="0"/>
            <a:ext cx="1024128" cy="1024128"/>
          </a:xfrm>
          <a:prstGeom prst="rtTriangle">
            <a:avLst/>
          </a:prstGeom>
          <a:solidFill>
            <a:srgbClr val="F4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5A987"/>
                </a:solidFill>
                <a:latin typeface="Aptos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52A"/>
                </a:solidFill>
                <a:latin typeface="Aptos"/>
              </a:rPr>
              <a:t>Prototype scope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44168"/>
            <a:ext cx="502920" cy="50292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26D60"/>
                </a:solidFill>
                <a:latin typeface="Aptos"/>
              </a:rPr>
              <a:t>SentinelUPI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D60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19072"/>
            <a:ext cx="4983480" cy="342900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719072"/>
            <a:ext cx="64008" cy="3429000"/>
          </a:xfrm>
          <a:prstGeom prst="rect">
            <a:avLst/>
          </a:prstGeom>
          <a:solidFill>
            <a:srgbClr val="39826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901952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What the prototype demonstrates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340864"/>
            <a:ext cx="4544568" cy="2670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26D60"/>
                </a:solidFill>
                <a:latin typeface="Aptos"/>
              </a:rPr>
              <a:t>• Behavioral profiling and anomaly signals
• Risk tiers with explainable factors
• Python and Android experiences
• Synthetic scenario simulation
• LAN-only payment interaction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1719072"/>
            <a:ext cx="4983480" cy="3429000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9088" y="1719072"/>
            <a:ext cx="64008" cy="3429000"/>
          </a:xfrm>
          <a:prstGeom prst="rect">
            <a:avLst/>
          </a:prstGeom>
          <a:solidFill>
            <a:srgbClr val="65A987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1901952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352A"/>
                </a:solidFill>
                <a:latin typeface="Aptos"/>
              </a:rPr>
              <a:t>What a next iteration can add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2340864"/>
            <a:ext cx="4544568" cy="2670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26D60"/>
                </a:solidFill>
                <a:latin typeface="Aptos"/>
              </a:rPr>
              <a:t>• Validate with representative, consented data
• Measure false-positive / detection trade-offs
• Secure and authenticate payment messages
• Persist profiles and audit decisions
• Integrate with a regulated payment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59552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527F67"/>
                </a:solidFill>
                <a:latin typeface="Aptos"/>
              </a:rPr>
              <a:t>LAN transfers and balances are a local demonstration, not a connection to UPI rails or a bank.</a:t>
            </a:r>
          </a:p>
        </p:txBody>
      </p:sp>
    </p:spTree>
  </p:cSld>
  <p:transition spd="med">
    <p:zoom dir="in"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FFA"/>
            </a:gs>
            <a:gs pos="55000">
              <a:srgbClr val="EDF9F1"/>
            </a:gs>
            <a:gs pos="100000">
              <a:srgbClr val="DDF1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11167567" y="0"/>
            <a:ext cx="1024128" cy="1024128"/>
          </a:xfrm>
          <a:prstGeom prst="rtTriangle">
            <a:avLst/>
          </a:prstGeom>
          <a:solidFill>
            <a:srgbClr val="F4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9436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5A987"/>
                </a:solidFill>
                <a:latin typeface="Aptos"/>
              </a:rP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73152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Callidus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01952"/>
            <a:ext cx="73152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0">
                <a:solidFill>
                  <a:srgbClr val="526D60"/>
                </a:solidFill>
                <a:latin typeface="Aptos"/>
              </a:rPr>
              <a:t>Building clearer, more adaptive transaction security.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788920"/>
            <a:ext cx="5074920" cy="694944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98648"/>
            <a:ext cx="13898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5A987"/>
                </a:solidFill>
                <a:latin typeface="Aptos"/>
              </a:rPr>
              <a:t>TEAM LEADER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880360"/>
            <a:ext cx="32461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17352A"/>
                </a:solidFill>
                <a:latin typeface="Aptos"/>
              </a:rPr>
              <a:t>Pradyumn Kr. Singh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2788920"/>
            <a:ext cx="5074920" cy="694944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2898648"/>
            <a:ext cx="13898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5A987"/>
                </a:solidFill>
                <a:latin typeface="Aptos"/>
              </a:rPr>
              <a:t>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880360"/>
            <a:ext cx="32461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17352A"/>
                </a:solidFill>
                <a:latin typeface="Aptos"/>
              </a:rPr>
              <a:t>Sddhant Arya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3703320"/>
            <a:ext cx="5074920" cy="694944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13048"/>
            <a:ext cx="13898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5A987"/>
                </a:solidFill>
                <a:latin typeface="Aptos"/>
              </a:rPr>
              <a:t>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794759"/>
            <a:ext cx="32461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17352A"/>
                </a:solidFill>
                <a:latin typeface="Aptos"/>
              </a:rPr>
              <a:t>Manas Dungriyal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3703320"/>
            <a:ext cx="5074920" cy="694944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3813048"/>
            <a:ext cx="13898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5A987"/>
                </a:solidFill>
                <a:latin typeface="Aptos"/>
              </a:rPr>
              <a:t>MEMBER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794759"/>
            <a:ext cx="32461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17352A"/>
                </a:solidFill>
                <a:latin typeface="Aptos"/>
              </a:rPr>
              <a:t>Mayank Dungriyal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4617720"/>
            <a:ext cx="5074920" cy="694944"/>
          </a:xfrm>
          <a:prstGeom prst="roundRect">
            <a:avLst>
              <a:gd name="adj" fmla="val 12000"/>
            </a:avLst>
          </a:prstGeom>
          <a:solidFill>
            <a:srgbClr val="FFFFFF"/>
            <a:alpha val="76000"/>
          </a:solidFill>
          <a:ln w="10160">
            <a:solidFill>
              <a:srgbClr val="D2EBDD"/>
              <a:alpha val="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27448"/>
            <a:ext cx="13898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5A987"/>
                </a:solidFill>
                <a:latin typeface="Aptos"/>
              </a:rPr>
              <a:t>MEMBER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709159"/>
            <a:ext cx="32461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17352A"/>
                </a:solidFill>
                <a:latin typeface="Aptos"/>
              </a:rPr>
              <a:t>Aayush Dhami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6336792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26D60"/>
                </a:solidFill>
                <a:latin typeface="Aptos"/>
              </a:rPr>
              <a:t>SentinelUPI  •  Thank you</a:t>
            </a:r>
          </a:p>
        </p:txBody>
      </p:sp>
    </p:spTree>
  </p:cSld>
  <p:transition spd="med">
    <p:zoom dir="in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SentinelUPI | Project Overview</dc:title>
  <dc:subject>Editable overview of project architecture, features, and team</dc:subject>
  <dc:creator>Callidus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